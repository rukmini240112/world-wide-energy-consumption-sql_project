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0" r:id="rId3"/>
    <p:sldId id="263" r:id="rId4"/>
    <p:sldId id="270" r:id="rId5"/>
    <p:sldId id="271" r:id="rId6"/>
    <p:sldId id="272" r:id="rId7"/>
    <p:sldId id="261" r:id="rId8"/>
    <p:sldId id="265" r:id="rId9"/>
    <p:sldId id="266" r:id="rId10"/>
    <p:sldId id="267" r:id="rId11"/>
    <p:sldId id="269" r:id="rId12"/>
    <p:sldId id="268" r:id="rId13"/>
    <p:sldId id="264" r:id="rId14"/>
    <p:sldId id="262" r:id="rId15"/>
    <p:sldId id="259" r:id="rId16"/>
  </p:sldIdLst>
  <p:sldSz cx="12192000" cy="6858000"/>
  <p:notesSz cx="6858000" cy="9144000"/>
  <p:embeddedFontLst>
    <p:embeddedFont>
      <p:font typeface="Libre Baskerville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9" autoAdjust="0"/>
    <p:restoredTop sz="94660"/>
  </p:normalViewPr>
  <p:slideViewPr>
    <p:cSldViewPr snapToGrid="0">
      <p:cViewPr varScale="1">
        <p:scale>
          <a:sx n="55" d="100"/>
          <a:sy n="55" d="100"/>
        </p:scale>
        <p:origin x="9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4E838DA-F1A1-71F9-51C9-2E9C870FD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A8EEDB7-EE18-8F84-05EB-84DFBD4433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D87E5A67-EC93-6AF8-2E6F-4EF0827C34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8537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84C58B7-D681-8018-0E4F-73E61EE99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A2830FAF-2304-F1F1-12B8-815950C32C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DF7B3058-3DCC-9B7C-5708-04E081B11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5481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5381B9A-9036-407A-8CA9-739EF47BE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85442D84-C0B4-26CF-4A25-AD3BFDBD7C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D34294A-0CC2-7A06-C20B-8FB662704F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30673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7683461-2C9B-DA3F-66B9-C68476B6E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37328947-DF10-FA19-1366-FC6DF71391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6EC0D8E7-A265-7143-7C96-659E94337F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39640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1DA96CF-E020-93BA-BD87-E7B36D7EA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46AB3C4-0296-5181-2604-78C1DEEB27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45ED350-2DD7-61D3-18FB-6B1710AFA7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45776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60ADC28-9063-1F08-3BBC-C627F3950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F55C218D-45A6-00C5-B088-5EA69415AB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0C182074-9595-55AA-22A6-798EE3E2DA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57620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F1CA078-433F-B6EC-4809-003A46495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3E652483-ABD2-3A66-5D8F-6DA6488E2E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EFFAE607-543B-A839-4138-2D0F60CE08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8966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CDA33B4-6836-19B1-28A4-DED798414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B5FB5F15-B4B5-56E0-44B2-040087F29E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E93008AC-A0C9-3DC5-9D09-C5BF793C38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204199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E734E19-7407-7CA6-28F9-20473B83C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156898D-ED8E-A853-7813-B2524D024F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B4F8C7E9-2AC7-F810-DC1A-C2EAF96B1D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32684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C7F02B9-F564-A560-CC61-B869C33E2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E287637-75CC-DA1C-C738-26FAF5DABD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895E276-377E-3B18-F683-069228A5C7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87156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65BA26D-12E0-3BFD-B3BB-8E0705B58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397BEDF-BD16-6DD4-79C4-C67AFB7E8E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2CAC22E0-96D0-A274-D7CE-3BEAC93DFC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010988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38BBB9A-D10F-66E3-7191-117C4F86E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8A4644FE-1340-24D7-CE09-1404B9F18C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6BB157C-F165-71D7-78DD-6618AF4AF7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708166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91D2312-554A-D971-C024-97F0521AB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8114049-6C70-C76A-1522-DC11059454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BEEE82FB-8544-1AD7-7305-55DC681B0F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984721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4263109"/>
            <a:ext cx="724618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World Wide Energy Consumption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200" b="0" i="0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3B3C5D8-72BE-D5BD-9E9F-10A11187B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DEB82E7-8572-2C0F-3873-CB88A33D58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5893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</a:rPr>
              <a:t>Objective of the Project</a:t>
            </a:r>
            <a:br>
              <a:rPr lang="en-IN" dirty="0"/>
            </a:br>
            <a:endParaRPr b="1" dirty="0">
              <a:solidFill>
                <a:srgbClr val="FF0000"/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256E3CD-FC53-0077-E4BD-28B4D1CF5E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2789" y="1708630"/>
            <a:ext cx="10234247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relationships between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consumption, production, GDP, population, and emissions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economic growth impacts energy usage and environmental factors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trends, patterns, and key insights for better decision-making </a:t>
            </a:r>
          </a:p>
        </p:txBody>
      </p:sp>
    </p:spTree>
    <p:extLst>
      <p:ext uri="{BB962C8B-B14F-4D97-AF65-F5344CB8AC3E}">
        <p14:creationId xmlns:p14="http://schemas.microsoft.com/office/powerpoint/2010/main" val="3707534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71E03D6-319C-641A-7394-108D8F1B6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F1A21-0A6D-3E19-7A75-428BEB3F7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946B3-D36F-8BCB-FD93-8275DDB0B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CFE88B-B75F-14B8-2F73-B784428AA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38" y="202421"/>
            <a:ext cx="11346016" cy="597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46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4FE5E30-91AA-66CF-B68A-8D3DB475A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130F5-7F2A-6012-001B-22C7A1FAD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1539" y="672170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/>
              <a:t>Country_3 table    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19256C-F23F-EBA3-D06F-AA9F66EAE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47" y="1654159"/>
            <a:ext cx="2493479" cy="36221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D05692-383C-B1F7-00A4-E32D36E63C5F}"/>
              </a:ext>
            </a:extLst>
          </p:cNvPr>
          <p:cNvSpPr txBox="1"/>
          <p:nvPr/>
        </p:nvSpPr>
        <p:spPr>
          <a:xfrm>
            <a:off x="5772185" y="672167"/>
            <a:ext cx="60930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     consum_3 table</a:t>
            </a:r>
          </a:p>
          <a:p>
            <a:endParaRPr lang="en-IN" sz="2800" b="1" dirty="0"/>
          </a:p>
          <a:p>
            <a:endParaRPr lang="en-IN" sz="2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32FB3C-3D69-A6E6-6F42-A5387CDCE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5434" y="1654160"/>
            <a:ext cx="4436404" cy="33693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5816D9-2208-79F2-DE4C-BDD3E53FE7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1838" y="1654158"/>
            <a:ext cx="4423415" cy="336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29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99F300C-8971-6060-BC79-8C8763D9B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3D1F637-B0A5-694A-F0F4-0BF488D8FC2E}"/>
              </a:ext>
            </a:extLst>
          </p:cNvPr>
          <p:cNvSpPr txBox="1"/>
          <p:nvPr/>
        </p:nvSpPr>
        <p:spPr>
          <a:xfrm>
            <a:off x="838200" y="157817"/>
            <a:ext cx="104862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       emission_3 table                                     gdp_3 table</a:t>
            </a:r>
            <a:endParaRPr lang="en-IN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6AAD7D-8A7B-0834-C0E3-2701BB15D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91" y="961681"/>
            <a:ext cx="5893071" cy="42805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0F88D3-60A6-D3B6-EFEC-7FCAED829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642" y="961681"/>
            <a:ext cx="4246849" cy="481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314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E916829-E2E9-012A-7A69-87E610CE7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DCC054-CF43-956F-D2FC-4D6EC2FE4F3B}"/>
              </a:ext>
            </a:extLst>
          </p:cNvPr>
          <p:cNvSpPr txBox="1"/>
          <p:nvPr/>
        </p:nvSpPr>
        <p:spPr>
          <a:xfrm>
            <a:off x="760535" y="338481"/>
            <a:ext cx="609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population_3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AF710D-B69E-B4EE-E6AA-3F379E75F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06" y="1271313"/>
            <a:ext cx="3853581" cy="43153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AC4032-FF6F-3CAE-096E-6D3B3F1F24F6}"/>
              </a:ext>
            </a:extLst>
          </p:cNvPr>
          <p:cNvSpPr txBox="1"/>
          <p:nvPr/>
        </p:nvSpPr>
        <p:spPr>
          <a:xfrm>
            <a:off x="5439508" y="281677"/>
            <a:ext cx="609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production_3 table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FF0899-9E71-96DE-B6CF-A1A207810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055" y="1271313"/>
            <a:ext cx="3466649" cy="27028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1070DE7-6FA7-29FD-2786-96A02D0BD4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717" y="1271313"/>
            <a:ext cx="3853580" cy="295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929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00CC823-9ACF-EE8D-D1B5-97D3B7D8A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7B810106-5351-9476-144E-3127223381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rgbClr val="FF0000"/>
              </a:buClr>
              <a:buSzPts val="4400"/>
            </a:pPr>
            <a:br>
              <a:rPr lang="en-IN" dirty="0"/>
            </a:br>
            <a:endParaRPr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09507-43DC-E669-9A93-58136E99B8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41109" y="681036"/>
            <a:ext cx="10778825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3000" b="1" i="1" dirty="0">
                <a:solidFill>
                  <a:srgbClr val="FF0000"/>
                </a:solidFill>
              </a:rPr>
              <a:t>How have global emissions changed year over year?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5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5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alt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year,SUM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(emission) AS </a:t>
            </a:r>
            <a:r>
              <a:rPr lang="en-US" alt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total_emission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emission_3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group by year order by year;</a:t>
            </a:r>
            <a:endParaRPr kumimoji="0" lang="en-US" altLang="en-US" sz="2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1D3A4B-4F9C-5E99-2D0A-C76D63361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097" y="3108138"/>
            <a:ext cx="3860408" cy="195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645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17065AB-A2F5-6906-77DF-23AC72425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A5E4AAD4-7B45-1F4C-8E78-F4A1EDC74E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rgbClr val="FF0000"/>
              </a:buClr>
              <a:buSzPts val="4400"/>
            </a:pPr>
            <a:br>
              <a:rPr lang="en-IN" dirty="0"/>
            </a:br>
            <a:endParaRPr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89882-3979-B17F-EDC9-C20AACC4A3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41109" y="280927"/>
            <a:ext cx="10778825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3200" b="1" dirty="0">
                <a:solidFill>
                  <a:srgbClr val="FF0000"/>
                </a:solidFill>
              </a:rPr>
              <a:t>What is the emission-to-GDP ratio for each country by year?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5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5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    </a:t>
            </a:r>
            <a:r>
              <a:rPr lang="en-US" alt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e.country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</a:t>
            </a:r>
            <a:r>
              <a:rPr lang="en-US" alt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e.year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SUM(</a:t>
            </a:r>
            <a:r>
              <a:rPr lang="en-US" alt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e.emission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alt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total_emission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</a:t>
            </a:r>
            <a:r>
              <a:rPr lang="en-US" alt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g.value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alt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gdp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SUM(</a:t>
            </a:r>
            <a:r>
              <a:rPr lang="en-US" alt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e.emission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/ </a:t>
            </a:r>
            <a:r>
              <a:rPr lang="en-US" alt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g.value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alt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emission_to_gdp_ratiofrom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emission_3 </a:t>
            </a:r>
            <a:r>
              <a:rPr lang="en-US" alt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ejoin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gdp_3 g    ON </a:t>
            </a:r>
            <a:r>
              <a:rPr lang="en-US" alt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e.country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g.country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AND </a:t>
            </a:r>
            <a:r>
              <a:rPr lang="en-US" alt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e.year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g.year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GROUP BY </a:t>
            </a:r>
            <a:r>
              <a:rPr lang="en-US" alt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e.country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e.year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g.value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ORDER BY </a:t>
            </a:r>
            <a:r>
              <a:rPr lang="en-US" alt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e.country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e.year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US" altLang="en-US" sz="2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8878A5-72B5-44FB-FCAE-B8E039A7C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61" y="3429000"/>
            <a:ext cx="5097449" cy="22419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4EB45D-E512-548F-73EB-C4374287D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041" y="3422822"/>
            <a:ext cx="5527528" cy="224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928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C769088-7F5D-39F2-174A-3B872B9AE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0BA8A0A-DB36-7CBF-B5ED-EF006BCF54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rgbClr val="FF0000"/>
              </a:buClr>
              <a:buSzPts val="4400"/>
            </a:pPr>
            <a:br>
              <a:rPr lang="en-IN" dirty="0"/>
            </a:br>
            <a:endParaRPr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05CF3-87E6-B1D6-F4AB-5B6FFDCEB5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3959" y="294855"/>
            <a:ext cx="107788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3200" b="1" i="1" dirty="0">
                <a:solidFill>
                  <a:srgbClr val="FF0000"/>
                </a:solidFill>
              </a:rPr>
              <a:t>What is the energy consumption per capita for each country?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711E80A-731F-E261-21CB-52C99F84E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65" y="879630"/>
            <a:ext cx="6449325" cy="214342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CAA10E3-DEE9-021D-50AA-A59ECF19C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211" y="3161716"/>
            <a:ext cx="3462543" cy="281665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0D448AD-159A-3E9D-1DBD-A8AF78E93F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5133" y="3067009"/>
            <a:ext cx="3462544" cy="300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21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22E52AB-AC53-8E9C-1905-34EA4DBCD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2A285D82-A01B-1826-631D-5E972A63E6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rgbClr val="FF0000"/>
              </a:buClr>
              <a:buSzPts val="4400"/>
            </a:pPr>
            <a:br>
              <a:rPr lang="en-IN" dirty="0"/>
            </a:br>
            <a:endParaRPr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ADFBF-59DD-8C01-A7E7-47E8C3B7CB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41109" y="996507"/>
            <a:ext cx="10778825" cy="1461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3200" b="1" dirty="0">
                <a:solidFill>
                  <a:srgbClr val="FF0000"/>
                </a:solidFill>
              </a:rPr>
              <a:t>What is the correlation between GDP growth and energy production?</a:t>
            </a:r>
            <a:endParaRPr kumimoji="0" lang="en-US" altLang="en-US" sz="2500" b="1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5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ECD0F4-B7A2-AEB3-155D-99F6F3ABEB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93"/>
          <a:stretch>
            <a:fillRect/>
          </a:stretch>
        </p:blipFill>
        <p:spPr>
          <a:xfrm>
            <a:off x="441109" y="2322070"/>
            <a:ext cx="5308683" cy="26292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F23FE4-4E22-63C3-FE90-5B4ACAE8A0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72"/>
          <a:stretch>
            <a:fillRect/>
          </a:stretch>
        </p:blipFill>
        <p:spPr>
          <a:xfrm>
            <a:off x="5830521" y="2379227"/>
            <a:ext cx="5839640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94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E88A184-85EA-42FC-3536-6745641A8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651933E-81EE-5FA3-1BB4-53F8FE26FD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rgbClr val="FF0000"/>
              </a:buClr>
              <a:buSzPts val="4400"/>
            </a:pPr>
            <a:br>
              <a:rPr lang="en-IN" dirty="0"/>
            </a:br>
            <a:endParaRPr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01434-263E-2F3A-0F13-7DE5EB981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72" y="498112"/>
            <a:ext cx="6582694" cy="26006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372CAB-6BF9-8988-558D-75A5A0243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737" y="1309447"/>
            <a:ext cx="3810532" cy="23815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C3AD8D-8ED4-12E9-8406-BDB6A0F9AD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30" y="3578657"/>
            <a:ext cx="5048955" cy="18290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DB2F0D-CF62-7203-B3D9-F6570F21D5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3460" y="4439644"/>
            <a:ext cx="4340610" cy="108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566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5353851-2EE1-704F-A664-67613614F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3B019D82-79B5-1A90-8FC8-77C71DC987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rgbClr val="FF0000"/>
              </a:buClr>
              <a:buSzPts val="4400"/>
            </a:pPr>
            <a:br>
              <a:rPr lang="en-IN" dirty="0"/>
            </a:br>
            <a:endParaRPr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E3370-1BF4-306D-C52F-1389FBE38F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41109" y="1296589"/>
            <a:ext cx="10778825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500" b="1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5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DBE9BD-AB97-4631-3FC3-D654B96D4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09" y="1935702"/>
            <a:ext cx="5617474" cy="3001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66DA6B-60ED-6AAC-D351-D8BCBC35B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06" y="1935702"/>
            <a:ext cx="4638228" cy="300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946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C897FBE-FEA9-F6FB-782A-BED4A5106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785361A-B3AC-D223-272E-45266BE980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887" y="2677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b="1" dirty="0">
                <a:solidFill>
                  <a:srgbClr val="FF0000"/>
                </a:solidFill>
              </a:rPr>
              <a:t>What is the global share (%) of emissions by country?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92BEF-0A69-11A7-D5E7-0123F8E8FC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0538" y="1866199"/>
            <a:ext cx="6314708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500" dirty="0"/>
              <a:t>SELECT     country, sum(emission),    ROUND(SUM(emission) * 100.0 /  (SELECT SUM(emission) FROM emission_3), 2) AS </a:t>
            </a:r>
            <a:r>
              <a:rPr lang="en-US" sz="2500" dirty="0" err="1"/>
              <a:t>global_share_pct</a:t>
            </a:r>
            <a:r>
              <a:rPr lang="en-US" sz="2500" dirty="0"/>
              <a:t> FROM emission_3 GROUP BY country ORDER BY </a:t>
            </a:r>
            <a:r>
              <a:rPr lang="en-US" sz="2500" dirty="0" err="1"/>
              <a:t>global_share_pct</a:t>
            </a:r>
            <a:r>
              <a:rPr lang="en-US" sz="2500" dirty="0"/>
              <a:t> DESC;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4BA3C1-8FA3-E6AF-E6CD-C48DA4B3E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246" y="1481479"/>
            <a:ext cx="4727899" cy="24006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A52BDB-1CE1-5896-6CA9-55190127E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3241" y="4391018"/>
            <a:ext cx="4147420" cy="1919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326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8ED6BE2-CA9F-0D9A-524E-A7F3C9F58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5FB6E4D-CDA5-9BCB-33E3-3E2F1647AF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</a:rPr>
              <a:t>Conclusion</a:t>
            </a:r>
            <a:br>
              <a:rPr lang="en-IN" dirty="0"/>
            </a:br>
            <a:endParaRPr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206EC2-AB10-C8BF-3496-75EC3B9E4422}"/>
              </a:ext>
            </a:extLst>
          </p:cNvPr>
          <p:cNvSpPr txBox="1"/>
          <p:nvPr/>
        </p:nvSpPr>
        <p:spPr>
          <a:xfrm>
            <a:off x="675269" y="766732"/>
            <a:ext cx="1004880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emissions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rising every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pollution is still growing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countries have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emissions compared to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GDP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they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efficient and more polluting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 per person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low but varies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slightly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 still show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differences between countries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countries show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positive correlation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others weak 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negative.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all economies depend on energy production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countries (China, USA, India) produce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emissions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pollution is concentrated in few countries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emissions are increasing, efficiency varies across countries, and a few nations dominate global pollution while economic dependence on energy differs by country.</a:t>
            </a:r>
          </a:p>
        </p:txBody>
      </p:sp>
    </p:spTree>
    <p:extLst>
      <p:ext uri="{BB962C8B-B14F-4D97-AF65-F5344CB8AC3E}">
        <p14:creationId xmlns:p14="http://schemas.microsoft.com/office/powerpoint/2010/main" val="975068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1628</TotalTime>
  <Words>432</Words>
  <Application>Microsoft Office PowerPoint</Application>
  <PresentationFormat>Widescreen</PresentationFormat>
  <Paragraphs>42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Times New Roman</vt:lpstr>
      <vt:lpstr>Libre Baskerville</vt:lpstr>
      <vt:lpstr>Calibri</vt:lpstr>
      <vt:lpstr>Office Theme</vt:lpstr>
      <vt:lpstr>PowerPoint Presentation</vt:lpstr>
      <vt:lpstr>Objective of the Project </vt:lpstr>
      <vt:lpstr>PowerPoint Presentation</vt:lpstr>
      <vt:lpstr>PowerPoint Presentation</vt:lpstr>
      <vt:lpstr>PowerPoint Presentation</vt:lpstr>
      <vt:lpstr>PowerPoint Presentation</vt:lpstr>
      <vt:lpstr> </vt:lpstr>
      <vt:lpstr> </vt:lpstr>
      <vt:lpstr> </vt:lpstr>
      <vt:lpstr> </vt:lpstr>
      <vt:lpstr> </vt:lpstr>
      <vt:lpstr> </vt:lpstr>
      <vt:lpstr>What is the global share (%) of emissions by country? 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RUKMINI RENDUCHINTALA</cp:lastModifiedBy>
  <cp:revision>2</cp:revision>
  <dcterms:created xsi:type="dcterms:W3CDTF">2021-02-16T05:19:01Z</dcterms:created>
  <dcterms:modified xsi:type="dcterms:W3CDTF">2026-04-11T05:57:48Z</dcterms:modified>
</cp:coreProperties>
</file>